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คู่มือนี้สร้างจากภาพหน้าจอจริงของระบบที่ใช้งานอยู่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011680"/>
            <a:ext cx="7680960" cy="7680960"/>
          </a:xfrm>
          <a:prstGeom prst="ellipse">
            <a:avLst/>
          </a:prstGeom>
          <a:solidFill>
            <a:srgbClr val="4ADE80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48640"/>
            <a:ext cx="786384" cy="786384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54864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36192" y="7863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CLINICWORKS CANNABIS POS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คู่มือใช้งานพนักงาน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66928" y="2944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Operating Manual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66928" y="3767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ทุกขั้นตอนพร้อมภาพจริงจากระบบ · Every step, with real screens from the live app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617720"/>
            <a:ext cx="2194560" cy="1234440"/>
          </a:xfrm>
          <a:prstGeom prst="roundRect">
            <a:avLst>
              <a:gd name="adj" fmla="val 10370"/>
            </a:avLst>
          </a:prstGeom>
          <a:solidFill>
            <a:srgbClr val="141E1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736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5358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สาขา / branches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4617720"/>
            <a:ext cx="2194560" cy="1234440"/>
          </a:xfrm>
          <a:prstGeom prst="roundRect">
            <a:avLst>
              <a:gd name="adj" fmla="val 10370"/>
            </a:avLst>
          </a:prstGeom>
          <a:solidFill>
            <a:srgbClr val="141E17"/>
          </a:solidFill>
          <a:ln/>
        </p:spPr>
      </p:sp>
      <p:sp>
        <p:nvSpPr>
          <p:cNvPr id="13" name="Text 11"/>
          <p:cNvSpPr/>
          <p:nvPr/>
        </p:nvSpPr>
        <p:spPr>
          <a:xfrm>
            <a:off x="3017520" y="4736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017520" y="5358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หน้าจอ / screens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0" y="4617720"/>
            <a:ext cx="2194560" cy="1234440"/>
          </a:xfrm>
          <a:prstGeom prst="roundRect">
            <a:avLst>
              <a:gd name="adj" fmla="val 10370"/>
            </a:avLst>
          </a:prstGeom>
          <a:solidFill>
            <a:srgbClr val="141E1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4736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5486400" y="53583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ภาษา / languages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 Cannabis Clinic · Bangkok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สารบัญ / 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ในคู่มือนี้มีอะไรบ้าง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manual covers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965960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89888" y="187452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เข้าสู่ระบบ &amp; เข้ากะ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19456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and clock in with a stock count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11" name="Shape 9"/>
          <p:cNvSpPr/>
          <p:nvPr/>
        </p:nvSpPr>
        <p:spPr>
          <a:xfrm>
            <a:off x="6473952" y="1965960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59168" y="187452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หน้าขาย &amp; ตะกร้า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59168" y="219456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sell screen and the cart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862072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3136392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136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89888" y="304495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ลูกค้าสมาชิก &amp; ราคาเดิม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89888" y="33649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and their remembered price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862072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21" name="Shape 19"/>
          <p:cNvSpPr/>
          <p:nvPr/>
        </p:nvSpPr>
        <p:spPr>
          <a:xfrm>
            <a:off x="6473952" y="3136392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3136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59168" y="304495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รับเงิน &amp; จอลูกค้า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59168" y="33649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payment and the customer display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4032504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4306824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89888" y="42153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นับสต๊อก &amp; เครื่องชั่ง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89888" y="45354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stock and the scale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17920" y="4032504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3952" y="4306824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59168" y="42153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รับของ · CRM · การเงิน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59168" y="45354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Receiving, CRM and finance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5202936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36" name="Shape 34"/>
          <p:cNvSpPr/>
          <p:nvPr/>
        </p:nvSpPr>
        <p:spPr>
          <a:xfrm>
            <a:off x="804672" y="5477256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804672" y="5477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89888" y="5385816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ผู้ช่วย AI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389888" y="5705856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assistant that trains staff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17920" y="5202936"/>
            <a:ext cx="5349240" cy="969264"/>
          </a:xfrm>
          <a:prstGeom prst="roundRect">
            <a:avLst>
              <a:gd name="adj" fmla="val 11321"/>
            </a:avLst>
          </a:prstGeom>
          <a:solidFill>
            <a:srgbClr val="141E17"/>
          </a:solidFill>
          <a:ln/>
        </p:spPr>
      </p:sp>
      <p:sp>
        <p:nvSpPr>
          <p:cNvPr id="41" name="Shape 39"/>
          <p:cNvSpPr/>
          <p:nvPr/>
        </p:nvSpPr>
        <p:spPr>
          <a:xfrm>
            <a:off x="6473952" y="5477256"/>
            <a:ext cx="420624" cy="420624"/>
          </a:xfrm>
          <a:prstGeom prst="ellipse">
            <a:avLst/>
          </a:prstGeom>
          <a:solidFill>
            <a:srgbClr val="4ADE80">
              <a:alpha val="2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473952" y="5477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059168" y="5385816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สิ่งที่ต้องระวัง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059168" y="5705856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watch out for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เข้าสู่ระบบ / LOGIN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เข้าสู่ระบบด้วย PIN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with your PIN — no password, no email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 PIN 6 หลักของคุณ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your own 6-digit PIN. Never share it — every action is logged under your name.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ระบบตรวจกับเซิร์ฟเวอร์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PIN is checked server-side; it is not stored in the app bundle.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เลือกสาขาที่ทำงาน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branch you are working at — sales and stock are counted per branch.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หน้าขาย / SELL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หน้าขาย — แตะสินค้าเพื่อขาย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sell screen: tap a product, it goes in the cart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02-s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ค้นหาหรือกรองหมวด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name, or use the category pills. Exotics comes first, then Top Shelf and Mid Grade.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แตะการ์ดสินค้า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 card to add it. Weighed items open the scale instead of adding 1 piece.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ดูสต๊อกบนการ์ด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shows the price and what is left. A gold border means the stock is low.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ลูกค้า / MEMBERS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เลือกลูกค้า — ราคาเดิมมาเอง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customer and their usual price applies itself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สแกน QR หรือพิมพ์เบอร์โทร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member card, or type their phone number or DK- code.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ส่วนลดและราคาเดิมใส่ให้เอง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discount and any price they paid before are applied automatically.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 สั่งเหมือนเดิม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last order shows with a one-tap reorder button.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03-c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รับเงิน / PAYMENT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รับเงินและปิดบิล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payment and close the bill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04-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เลือกวิธีจ่ายเงิน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transfer, credit, crypto, Omise or K PAY QR — or a member's wallet.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ตรวจยอดก่อนกด Checkout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total with the customer before you take the money.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พิมพ์หรือแชร์ใบเสร็จ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receipt, or share it. Every sale is written to the audit log.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จอลูกค้า / CDS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จอลูกค้า — ลูกค้าเห็นทุกอย่าง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 display mirrors the till live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เปิดจากหน้า Scale &amp; Print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Open customer display, drag the window to the second screen, then press F11.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ลูกค้าเห็นตะกร้าและยอดสด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see each line, the discount and the total as you ring it up.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ใช้ได้แม้เน็ตหลุด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needs no network at all — it mirrors straight from the till.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13-c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นับสต๊อก / STOCK COUNT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นับสต๊อกทุกครั้งที่เข้าและออกกะ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every SKU at clock in and clock out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10-c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แตะชื่อสินค้าเพื่อชั่งทีละตัว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 product to open a focused weighing screen with the live scale reading.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 ใช้ค่านี้ หรือพิมพ์เอง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reading from the scale, or type the number if there is no scale.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ไม่ตรงต้องใส่เหตุผลทุกครั้ง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short and over count as a mismatch, and both need a reason before you can finish.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เครื่องชั่ง /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เครื่องชั่งและเครื่องพิมพ์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the scale and the receipt printer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ต่อเครื่องชั่ง USB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Connect in Chrome or Edge. Test the scale before every shift.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ตั้งหน่วยให้ตรงกับเครื่อง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reads the unit off the wire. If the app shows 1000x less than the scale, set it to kg.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ตัวเลขต้องตรงกับหน้าเครื่อง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shows exactly what the scale shows — 0.039 stays 0.039, never rounded.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11-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รับของ / RECEIVING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รับของเข้าและย้ายขึ้นขาย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stock, then move it out to sell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06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ของเข้าลงหลังร้านก่อนเสมอ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received goes to Inactive first — it cannot be sold from there.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ต้องเลือก supplier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Receiving with no supplier needs a manager or CEO PIN.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 ย้ายเข้าขาย เมื่อพร้อม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manager moves stock to Active when it is ready to sell.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ลูกค้า / CRM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จัดการลูกค้าและสมาชิก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Customers, points and member cards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เพิ่มลูกค้าด้วยเบอร์หรืออีเมล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issues a DK- member code and a QR card automatically.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ดูแต้มและประวัติซื้อ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Points, spend, birthday and full purchase history per customer.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ลูกค้าโชว์ QR ที่หน้าขาย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Scanning it selects them and applies their pricing in one step.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07-c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แดชบอร์ด /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ดูยอดขายและกำไรจริง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and real profit, not just revenue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05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เลือกช่วงเวลา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Day, month, quarter, year or a custom range — every number follows the period.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กำไรคิดเป็นขั้น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 first, then profit after fixed costs, then by branch and by day.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การ์ด VAT นำส่ง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owed is sales x 7/107, shown as its own card.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การเงิน / FINANCE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บันทึกค่าใช้จ่าย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expenses — or let the AI read the receipt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837944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 เพิ่มรายจ่าย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2139696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category, amount and note. Everything is logged with your name.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679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หรือสแกนใบเสร็จ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15568" y="2980944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 receipt and the AI fills in the supplier, total, VAT and date.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352044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ตั้งงบค่าใช้จ่ายคงที่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15568" y="3822192"/>
            <a:ext cx="3593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sets each branch's fixed monthly budget, used for the profit figures.</a:t>
            </a:r>
            <a:endParaRPr lang="en-US" sz="1150" dirty="0"/>
          </a:p>
        </p:txBody>
      </p:sp>
      <p:pic>
        <p:nvPicPr>
          <p:cNvPr id="17" name="Image 0" descr="/tmp/claude-0/-home-user-DANK-MEDICAL-POS-APP/b4eeae3c-e4a2-507b-bffa-0cae949f2dfb/scratchpad/sop/08-fin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ผู้ช่วย AI /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ถาม Bryan AI ได้ทุกเรื่อง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trains staff and takes them to the page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12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41719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543800" y="1874520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7" name="Text 4"/>
          <p:cNvSpPr/>
          <p:nvPr/>
        </p:nvSpPr>
        <p:spPr>
          <a:xfrm>
            <a:off x="7543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10728" y="1837944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กดปุ่ม 🤖 มุมขวาล่าง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10728" y="2139696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knows all 21 pages of the app — ask in Thai or English.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543800" y="271576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/>
          <p:nvPr/>
        </p:nvSpPr>
        <p:spPr>
          <a:xfrm>
            <a:off x="754380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10728" y="2679192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ตอบเป็นขั้นตอนทีละข้อ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110728" y="2980944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come as numbered steps you can follow straight away.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43800" y="3557016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5" name="Text 12"/>
          <p:cNvSpPr/>
          <p:nvPr/>
        </p:nvSpPr>
        <p:spPr>
          <a:xfrm>
            <a:off x="754380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2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110728" y="3520440"/>
            <a:ext cx="3502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กดปุ่ม พาไปหน้า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502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carries a button that opens the page it is talking about.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กฎสำคัญ / THE RULE THAT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คือ ตรงเป๊ะ เท่านั้น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means matched — nothing else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2880360"/>
          </a:xfrm>
          <a:prstGeom prst="roundRect">
            <a:avLst>
              <a:gd name="adj" fmla="val 5079"/>
            </a:avLst>
          </a:prstGeom>
          <a:solidFill>
            <a:srgbClr val="141E17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057400"/>
            <a:ext cx="640080" cy="640080"/>
          </a:xfrm>
          <a:prstGeom prst="ellipse">
            <a:avLst/>
          </a:prstGeom>
          <a:solidFill>
            <a:srgbClr val="4ADE80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9536" y="28529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ตรง / OK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59536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นับได้เท่ากับที่ระบบมี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59536" y="36118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Counted exactly what the system expected. Only this is OK.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15968" y="1783080"/>
            <a:ext cx="3520440" cy="2880360"/>
          </a:xfrm>
          <a:prstGeom prst="roundRect">
            <a:avLst>
              <a:gd name="adj" fmla="val 5079"/>
            </a:avLst>
          </a:prstGeom>
          <a:solidFill>
            <a:srgbClr val="141E17"/>
          </a:solidFill>
          <a:ln/>
        </p:spPr>
      </p:sp>
      <p:sp>
        <p:nvSpPr>
          <p:cNvPr id="12" name="Shape 10"/>
          <p:cNvSpPr/>
          <p:nvPr/>
        </p:nvSpPr>
        <p:spPr>
          <a:xfrm>
            <a:off x="4626864" y="2057400"/>
            <a:ext cx="640080" cy="640080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626864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➕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26864" y="28529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เกิน / OVER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26864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นับได้มากกว่าระบบ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26864" y="36118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expected is a mismatch too — it needs a reason, same as short.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83296" y="1783080"/>
            <a:ext cx="3520440" cy="2880360"/>
          </a:xfrm>
          <a:prstGeom prst="roundRect">
            <a:avLst>
              <a:gd name="adj" fmla="val 5079"/>
            </a:avLst>
          </a:prstGeom>
          <a:solidFill>
            <a:srgbClr val="141E17"/>
          </a:solidFill>
          <a:ln/>
        </p:spPr>
      </p:sp>
      <p:sp>
        <p:nvSpPr>
          <p:cNvPr id="18" name="Shape 16"/>
          <p:cNvSpPr/>
          <p:nvPr/>
        </p:nvSpPr>
        <p:spPr>
          <a:xfrm>
            <a:off x="8394192" y="2057400"/>
            <a:ext cx="640080" cy="640080"/>
          </a:xfrm>
          <a:prstGeom prst="ellipse">
            <a:avLst/>
          </a:prstGeom>
          <a:solidFill>
            <a:srgbClr val="C9A84C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8394192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94192" y="285292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ขาด / SHORT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94192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นับได้น้อยกว่าระบบ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94192" y="36118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needs a reason, and large shrinkage needs a manager PIN.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1D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983480"/>
            <a:ext cx="10424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ของเกินก็คือสต๊อกไม่ตรง — อาจแปลว่ารับของเข้าไม่ลงระบบ หรือขายแล้วไม่ได้คีย์  ·  An over-count is still a mismatch: stock arrived unlogged, or a sale was never rung up.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เว็บ / LANDING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หน้าเว็บแนะนำระบบ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page you can show anyone</a:t>
            </a:r>
            <a:endParaRPr lang="en-US" sz="1400" dirty="0"/>
          </a:p>
        </p:txBody>
      </p:sp>
      <p:pic>
        <p:nvPicPr>
          <p:cNvPr id="5" name="Image 0" descr="/tmp/claude-0/-home-user-DANK-MEDICAL-POS-APP/b4eeae3c-e4a2-507b-bffa-0cae949f2dfb/scratchpad/sop/14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691640"/>
            <a:ext cx="6858000" cy="4286250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00000">
                <a:alpha val="5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dank-medical-pos-app.vercel.app/landing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0F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3291840"/>
            <a:ext cx="7863840" cy="7863840"/>
          </a:xfrm>
          <a:prstGeom prst="ellipse">
            <a:avLst/>
          </a:prstGeom>
          <a:solidFill>
            <a:srgbClr val="4ADE80">
              <a:alpha val="7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1089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ก่อนเริ่มใช้งาน / BEFORE YOU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สิ่งที่ต้องระวัง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1155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watch out for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41E17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975104"/>
            <a:ext cx="384048" cy="384048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86537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อย่าบอก PIN ให้ใคร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532120" y="18836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PIN is your signature. Every sale, void and stock edit is logged under your name.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41E17"/>
          </a:solidFill>
          <a:ln/>
        </p:spPr>
      </p:sp>
      <p:sp>
        <p:nvSpPr>
          <p:cNvPr id="11" name="Shape 9"/>
          <p:cNvSpPr/>
          <p:nvPr/>
        </p:nvSpPr>
        <p:spPr>
          <a:xfrm>
            <a:off x="841248" y="2999232"/>
            <a:ext cx="384048" cy="384048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88950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เช็คเครื่องชั่งก่อนทุกกะ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32120" y="290779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Test scale first. A wrong unit makes every weight 1000x out.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85616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41E17"/>
          </a:solidFill>
          <a:ln/>
        </p:spPr>
      </p:sp>
      <p:sp>
        <p:nvSpPr>
          <p:cNvPr id="15" name="Shape 13"/>
          <p:cNvSpPr/>
          <p:nvPr/>
        </p:nvSpPr>
        <p:spPr>
          <a:xfrm>
            <a:off x="841248" y="4023360"/>
            <a:ext cx="384048" cy="38404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1417320" y="39136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ของเกินก็ต้องแจ้ง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532120" y="393192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mark an over-count as OK. Say what happened instead.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9744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41E17"/>
          </a:solidFill>
          <a:ln/>
        </p:spPr>
      </p:sp>
      <p:sp>
        <p:nvSpPr>
          <p:cNvPr id="19" name="Shape 17"/>
          <p:cNvSpPr/>
          <p:nvPr/>
        </p:nvSpPr>
        <p:spPr>
          <a:xfrm>
            <a:off x="841248" y="5047488"/>
            <a:ext cx="384048" cy="38404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49377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ไม่แน่ใจ ให้ถาม AI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532120" y="495604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explains any page step by step and takes you there.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ระบบขาย  dank-medical-pos-app.vercel.app   ·   จอลูกค้า  /?cds=1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ClinicWorks POS — SOP</dc:title>
  <dc:subject>PptxGenJS Presentation</dc:subject>
  <dc:creator>ClinicWorks Cannabis</dc:creator>
  <cp:lastModifiedBy>ClinicWorks Cannabis</cp:lastModifiedBy>
  <cp:revision>1</cp:revision>
  <dcterms:created xsi:type="dcterms:W3CDTF">2026-08-13T17:09:59Z</dcterms:created>
  <dcterms:modified xsi:type="dcterms:W3CDTF">2026-08-13T17:09:59Z</dcterms:modified>
</cp:coreProperties>
</file>